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pitchdeck/cover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10">
              <a:alpha val="8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1221284"/>
            <a:ext cx="609600" cy="3810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614934"/>
            <a:ext cx="8595211" cy="59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70"/>
              </a:lnSpc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TerraBrew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38096" y="2271415"/>
            <a:ext cx="7467808" cy="71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EUDR Compliance Infrastructure for the Coffee Supply Chain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317950" y="3185815"/>
            <a:ext cx="507950" cy="25301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614345" y="3465016"/>
            <a:ext cx="391531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Climate Tech Catalyst – Vietnam and Beyond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28936" y="3750766"/>
            <a:ext cx="188612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May 2026 |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474209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Problem: A Regulatory Earthquake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853357"/>
            <a:ext cx="38100" cy="457200"/>
          </a:xfrm>
          <a:prstGeom prst="roundRect">
            <a:avLst>
              <a:gd name="adj" fmla="val 66667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1828056"/>
            <a:ext cx="83693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EUDR Bans Deforestation-Linked Products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4650" y="2123331"/>
            <a:ext cx="8001000" cy="51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Requires GPS polygon data, chain-of-custody records, and legally binding Due Diligence Statements for every shipment.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804964"/>
            <a:ext cx="38100" cy="457200"/>
          </a:xfrm>
          <a:prstGeom prst="roundRect">
            <a:avLst>
              <a:gd name="adj" fmla="val 66667"/>
            </a:avLst>
          </a:prstGeom>
          <a:solidFill>
            <a:srgbClr val="D476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2779663"/>
            <a:ext cx="83693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Non-Compliance = Market Lockout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4650" y="3074938"/>
            <a:ext cx="8369350" cy="258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Shipments without valid DDS turned back at EU borders. No appeals. A binary regulatory gate.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3517255"/>
            <a:ext cx="38100" cy="457200"/>
          </a:xfrm>
          <a:prstGeom prst="roundRect">
            <a:avLst>
              <a:gd name="adj" fmla="val 66667"/>
            </a:avLst>
          </a:prstGeom>
          <a:solidFill>
            <a:srgbClr val="8BB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4650" y="3491954"/>
            <a:ext cx="83693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Vietnam Is Disproportionately Exposed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4650" y="3787229"/>
            <a:ext cx="8369350" cy="258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$3.5B in annual coffee exports to EU. Most cooperatives rely on spreadsheets. The gap is existential.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3360" y="406301"/>
            <a:ext cx="86360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spc="200" kern="0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COST OF NON-COMPLIANCE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270" y="692051"/>
            <a:ext cx="4755312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Exporters Face Today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1250" y="1368326"/>
            <a:ext cx="2438400" cy="2042220"/>
          </a:xfrm>
          <a:prstGeom prst="roundRect">
            <a:avLst>
              <a:gd name="adj" fmla="val 621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1315" y="1682651"/>
            <a:ext cx="2818269" cy="668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$40K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73599" y="2403277"/>
            <a:ext cx="2113702" cy="74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Consultant fees per shipment for manual EUDR documentation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52800" y="1368326"/>
            <a:ext cx="2438400" cy="2042220"/>
          </a:xfrm>
          <a:prstGeom prst="roundRect">
            <a:avLst>
              <a:gd name="adj" fmla="val 621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62866" y="1682651"/>
            <a:ext cx="2818269" cy="668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D476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Mo.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515149" y="2403277"/>
            <a:ext cx="2113702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Time to prepare a single shipment's DDS manually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94350" y="1368326"/>
            <a:ext cx="2438400" cy="2042220"/>
          </a:xfrm>
          <a:prstGeom prst="roundRect">
            <a:avLst>
              <a:gd name="adj" fmla="val 621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04416" y="1682651"/>
            <a:ext cx="2818269" cy="668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8BB1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156700" y="2403277"/>
            <a:ext cx="2113702" cy="74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Of Vietnamese exporters with automated compliance systems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28036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TerraBrew: Compliance-First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22512"/>
            <a:ext cx="507950" cy="3810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713012"/>
            <a:ext cx="4135011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Not Another Traceability 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137023"/>
            <a:ext cx="3947056" cy="1229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Existing tools are built for data collection. TerraBrew is built for </a:t>
            </a:r>
            <a:pPr algn="l" indent="0" marL="0">
              <a:lnSpc>
                <a:spcPts val="224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evidence</a:t>
            </a:r>
            <a:pPr algn="l" indent="0" marL="0">
              <a:lnSpc>
                <a:spcPts val="224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— producing the audit-ready documentation that EU regulators demand.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478411"/>
            <a:ext cx="3947056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Every feature maps directly to an EUDR evidence requirement. Every workflow produces legally defensible output.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78301" y="1921669"/>
            <a:ext cx="507950" cy="38100"/>
          </a:xfrm>
          <a:prstGeom prst="rect">
            <a:avLst/>
          </a:prstGeom>
          <a:solidFill>
            <a:srgbClr val="D476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78301" y="2112169"/>
            <a:ext cx="4135011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Full Ecosystem Coverage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78301" y="2536180"/>
            <a:ext cx="3759101" cy="148055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 entity types across the supply chain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GPS polygon verification engine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Automated DDS generation for TRACES-NT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Multi-language: VI, PT-BR, AM, SW, KO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Multi-currency: VND, BRL, ETB, KES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69354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TerraBrew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642021"/>
            <a:ext cx="1777901" cy="219581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3818781"/>
            <a:ext cx="1777901" cy="0"/>
          </a:xfrm>
          <a:prstGeom prst="line">
            <a:avLst/>
          </a:prstGeom>
          <a:noFill/>
          <a:ln w="38100">
            <a:solidFill>
              <a:srgbClr val="C09E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7026" y="1895921"/>
            <a:ext cx="1963049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73926" y="2406997"/>
            <a:ext cx="18492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Register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1738" y="2692747"/>
            <a:ext cx="1493624" cy="92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Farmers and cooperatives log GPS plots and harvest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39901" y="1642021"/>
            <a:ext cx="1777901" cy="219581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39901" y="3818781"/>
            <a:ext cx="1777901" cy="0"/>
          </a:xfrm>
          <a:prstGeom prst="line">
            <a:avLst/>
          </a:prstGeom>
          <a:noFill/>
          <a:ln w="38100">
            <a:solidFill>
              <a:srgbClr val="D47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7327" y="1895921"/>
            <a:ext cx="1963049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D476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04227" y="2406997"/>
            <a:ext cx="18492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82039" y="2692747"/>
            <a:ext cx="1493624" cy="92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Geolocation engine validates polygons against satellite baselines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70202" y="1642021"/>
            <a:ext cx="1777901" cy="219581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470202" y="3818781"/>
            <a:ext cx="1777901" cy="0"/>
          </a:xfrm>
          <a:prstGeom prst="line">
            <a:avLst/>
          </a:prstGeom>
          <a:noFill/>
          <a:ln w="38100">
            <a:solidFill>
              <a:srgbClr val="8BB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7627" y="1895921"/>
            <a:ext cx="1963049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8BB1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434527" y="2406997"/>
            <a:ext cx="18492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2340" y="2692747"/>
            <a:ext cx="1493624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Chain-of-custody tracks every handoff from farm to 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502" y="1642021"/>
            <a:ext cx="1777901" cy="219581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00502" y="3818781"/>
            <a:ext cx="1777901" cy="0"/>
          </a:xfrm>
          <a:prstGeom prst="line">
            <a:avLst/>
          </a:prstGeom>
          <a:noFill/>
          <a:ln w="38100">
            <a:solidFill>
              <a:srgbClr val="6B54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7928" y="1895921"/>
            <a:ext cx="1963049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64828" y="2406997"/>
            <a:ext cx="18492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42641" y="2692747"/>
            <a:ext cx="1493624" cy="92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Automated DDS generation for EU customs via TRACES-NT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3360" y="4040981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20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14-stage traceability pipeline from Farmer Registration to Retail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45647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TerraBrew Is Different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65002"/>
            <a:ext cx="2539901" cy="3924598"/>
          </a:xfrm>
          <a:prstGeom prst="roundRect">
            <a:avLst>
              <a:gd name="adj" fmla="val 5000"/>
            </a:avLst>
          </a:prstGeom>
          <a:solidFill>
            <a:srgbClr val="E9E2DC"/>
          </a:solidFill>
          <a:ln w="19050">
            <a:solidFill>
              <a:srgbClr val="CEBF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2551" y="1237952"/>
            <a:ext cx="2093699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spc="100" kern="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GENERIC PLATFORMS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2551" y="1790402"/>
            <a:ext cx="20936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Sourcemap, Tracr, Farmer Connect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2551" y="2374553"/>
            <a:ext cx="1993999" cy="161575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Broad traceability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EUDR workflows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GPS polygon engine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DDS generation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Generic supply chain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52651" y="965002"/>
            <a:ext cx="2539901" cy="3924598"/>
          </a:xfrm>
          <a:prstGeom prst="roundRect">
            <a:avLst>
              <a:gd name="adj" fmla="val 5000"/>
            </a:avLst>
          </a:prstGeom>
          <a:solidFill>
            <a:srgbClr val="2D1B10"/>
          </a:solidFill>
          <a:ln/>
          <a:effectLst>
            <a:outerShdw sx="100000" sy="100000" kx="0" ky="0" algn="bl" rotWithShape="0" blurRad="203200" dist="508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06552" y="1218902"/>
            <a:ext cx="264172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spc="100" kern="0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TERRABREW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06552" y="1571327"/>
            <a:ext cx="239787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Purpose-built for EUDR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06552" y="1926878"/>
            <a:ext cx="2032099" cy="242363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Compliance-first architecture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GPS polygon verification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Automated DDS for TRACES-NT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Coffee-specific entity models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Multi-origin, multi-language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5702" y="965002"/>
            <a:ext cx="2539901" cy="3924598"/>
          </a:xfrm>
          <a:prstGeom prst="roundRect">
            <a:avLst>
              <a:gd name="adj" fmla="val 5000"/>
            </a:avLst>
          </a:prstGeom>
          <a:solidFill>
            <a:srgbClr val="E9E2DC"/>
          </a:solidFill>
          <a:ln w="19050">
            <a:solidFill>
              <a:srgbClr val="CEBF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68653" y="1237952"/>
            <a:ext cx="235291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spc="100" kern="0" dirty="0">
                <a:solidFill>
                  <a:srgbClr val="9E8A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ERP / EXPORT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8653" y="1590377"/>
            <a:ext cx="235291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SAP, legacy export systems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8653" y="1945928"/>
            <a:ext cx="1993999" cy="215434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Logistics management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deforestation evidence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geolocation capability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DDS generation</a:t>
            </a:r>
            <a:endParaRPr lang="en-US" sz="1300" dirty="0"/>
          </a:p>
          <a:p>
            <a:pPr algn="l" marL="101600" indent="-1016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Single-country, single-language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22045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74241"/>
            <a:ext cx="2438400" cy="2157413"/>
          </a:xfrm>
          <a:prstGeom prst="roundRect">
            <a:avLst>
              <a:gd name="adj" fmla="val 58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098054"/>
            <a:ext cx="2438400" cy="0"/>
          </a:xfrm>
          <a:prstGeom prst="line">
            <a:avLst/>
          </a:prstGeom>
          <a:noFill/>
          <a:ln w="47625">
            <a:solidFill>
              <a:srgbClr val="C09E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331" y="1426666"/>
            <a:ext cx="2844939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$12B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7936" y="2026741"/>
            <a:ext cx="264172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1948" y="2287042"/>
            <a:ext cx="213370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Global coffee compliance and traceability market by 2028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51150" y="1074241"/>
            <a:ext cx="2438400" cy="2157413"/>
          </a:xfrm>
          <a:prstGeom prst="roundRect">
            <a:avLst>
              <a:gd name="adj" fmla="val 58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51150" y="1098054"/>
            <a:ext cx="2438400" cy="0"/>
          </a:xfrm>
          <a:prstGeom prst="line">
            <a:avLst/>
          </a:prstGeom>
          <a:noFill/>
          <a:ln w="47625">
            <a:solidFill>
              <a:srgbClr val="D47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7881" y="1426666"/>
            <a:ext cx="2844939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D476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$1.8B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149486" y="2026741"/>
            <a:ext cx="264172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3498" y="2287042"/>
            <a:ext cx="2133704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EUDR compliance tools for coffee supply chains serving EU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2701" y="1074241"/>
            <a:ext cx="2438400" cy="2157413"/>
          </a:xfrm>
          <a:prstGeom prst="roundRect">
            <a:avLst>
              <a:gd name="adj" fmla="val 58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92701" y="1098054"/>
            <a:ext cx="2438400" cy="0"/>
          </a:xfrm>
          <a:prstGeom prst="line">
            <a:avLst/>
          </a:prstGeom>
          <a:noFill/>
          <a:ln w="47625">
            <a:solidFill>
              <a:srgbClr val="8BB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9431" y="1426666"/>
            <a:ext cx="2844939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8BB1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$180M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791036" y="2026741"/>
            <a:ext cx="264172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45049" y="2287042"/>
            <a:ext cx="2133704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Vietnam coffee EUDR compliance addressable in 3 years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3434804"/>
            <a:ext cx="3759101" cy="1345406"/>
          </a:xfrm>
          <a:prstGeom prst="roundRect">
            <a:avLst>
              <a:gd name="adj" fmla="val 7552"/>
            </a:avLst>
          </a:prstGeom>
          <a:solidFill>
            <a:srgbClr val="E9E2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38200" y="3612505"/>
            <a:ext cx="3466996" cy="106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driver: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EUDR enforcement creates immediate, non-discretionary demand. Every coffee exporter to the EU must comply or lose market access.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1851" y="3434804"/>
            <a:ext cx="3759101" cy="1345406"/>
          </a:xfrm>
          <a:prstGeom prst="roundRect">
            <a:avLst>
              <a:gd name="adj" fmla="val 7552"/>
            </a:avLst>
          </a:prstGeom>
          <a:solidFill>
            <a:srgbClr val="E9E2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0451" y="3612505"/>
            <a:ext cx="3466996" cy="106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Expansion: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Indonesia, Ethiopia, Kenya, Colombia face identical EUDR pressure. Korea and Japan developing similar regulations.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97780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Traction and Milestones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65002"/>
            <a:ext cx="3962400" cy="853380"/>
          </a:xfrm>
          <a:prstGeom prst="roundRect">
            <a:avLst>
              <a:gd name="adj" fmla="val 11906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3412" y="965002"/>
            <a:ext cx="0" cy="853380"/>
          </a:xfrm>
          <a:prstGeom prst="line">
            <a:avLst/>
          </a:prstGeom>
          <a:noFill/>
          <a:ln w="47625">
            <a:solidFill>
              <a:srgbClr val="C09E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5825" y="1215479"/>
            <a:ext cx="237321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07740" y="1142702"/>
            <a:ext cx="3292443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Countries with pilot tenants deployed (VN, BR, ET, KE)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1970782"/>
            <a:ext cx="3962400" cy="853380"/>
          </a:xfrm>
          <a:prstGeom prst="roundRect">
            <a:avLst>
              <a:gd name="adj" fmla="val 11906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3412" y="1970782"/>
            <a:ext cx="0" cy="853380"/>
          </a:xfrm>
          <a:prstGeom prst="line">
            <a:avLst/>
          </a:prstGeom>
          <a:noFill/>
          <a:ln w="47625">
            <a:solidFill>
              <a:srgbClr val="D476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5825" y="2221260"/>
            <a:ext cx="237321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76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07740" y="2148483"/>
            <a:ext cx="3292443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Entity types modeled (producer to laboratory)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" y="2976563"/>
            <a:ext cx="3962400" cy="707827"/>
          </a:xfrm>
          <a:prstGeom prst="roundRect">
            <a:avLst>
              <a:gd name="adj" fmla="val 14354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3412" y="2976563"/>
            <a:ext cx="0" cy="707827"/>
          </a:xfrm>
          <a:prstGeom prst="line">
            <a:avLst/>
          </a:prstGeom>
          <a:noFill/>
          <a:ln w="47625">
            <a:solidFill>
              <a:srgbClr val="8BB1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825" y="3154263"/>
            <a:ext cx="237321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B1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07740" y="3205907"/>
            <a:ext cx="2797933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Languages supported natively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600" y="3836789"/>
            <a:ext cx="3962400" cy="853380"/>
          </a:xfrm>
          <a:prstGeom prst="roundRect">
            <a:avLst>
              <a:gd name="adj" fmla="val 11906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3412" y="3836789"/>
            <a:ext cx="0" cy="853380"/>
          </a:xfrm>
          <a:prstGeom prst="line">
            <a:avLst/>
          </a:prstGeom>
          <a:noFill/>
          <a:ln w="47625">
            <a:solidFill>
              <a:srgbClr val="6B54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5825" y="4087267"/>
            <a:ext cx="474643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7255" y="4014490"/>
            <a:ext cx="3114452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Traceability pipeline stages implemented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25901" y="965002"/>
            <a:ext cx="43180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25901" y="157117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54352" y="1507778"/>
            <a:ext cx="408964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 2026 — Platform MVP Complete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54352" y="1707803"/>
            <a:ext cx="40896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Full EUDR workflow operational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5901" y="229805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476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54352" y="2234654"/>
            <a:ext cx="408964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 2026 — Vietnam Anchor Partner Live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54352" y="2434679"/>
            <a:ext cx="40896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Metrang trading company onboarding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5901" y="302493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8BB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54352" y="2961531"/>
            <a:ext cx="408964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 2026 — Pilot DDS Generation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54352" y="3161556"/>
            <a:ext cx="40896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First production Due Diligence Statements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5901" y="375180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EBF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54352" y="3688407"/>
            <a:ext cx="408964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 2026 — Commercial Launch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54352" y="3888432"/>
            <a:ext cx="40896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Paid subscriptions, B2G engagement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8BB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695301"/>
            <a:ext cx="3368040" cy="72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180K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55550" y="2467273"/>
            <a:ext cx="32125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Tonnes CO2e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5550" y="2756148"/>
            <a:ext cx="27203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avoided per year from prevented deforestation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5550" y="3410099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59101" y="1119783"/>
            <a:ext cx="50750" cy="558701"/>
          </a:xfrm>
          <a:prstGeom prst="roundRect">
            <a:avLst>
              <a:gd name="adj" fmla="val 50049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36802" y="1069032"/>
            <a:ext cx="52071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Deforestation Prevention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6802" y="1357908"/>
            <a:ext cx="4987498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15,000+ hectares under verified geolocation monitoring. 45,000 ha screened including buffer zones.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59101" y="2106811"/>
            <a:ext cx="50750" cy="558701"/>
          </a:xfrm>
          <a:prstGeom prst="roundRect">
            <a:avLst>
              <a:gd name="adj" fmla="val 50049"/>
            </a:avLst>
          </a:prstGeom>
          <a:solidFill>
            <a:srgbClr val="D476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36802" y="2056061"/>
            <a:ext cx="52071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Compliance Reduces Evasion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6802" y="2344936"/>
            <a:ext cx="4987498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When compliance costs $299/mo instead of $40K/shipment, adoption becomes the path of least resistance.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59101" y="3093839"/>
            <a:ext cx="50750" cy="558701"/>
          </a:xfrm>
          <a:prstGeom prst="roundRect">
            <a:avLst>
              <a:gd name="adj" fmla="val 50049"/>
            </a:avLst>
          </a:prstGeom>
          <a:solidFill>
            <a:srgbClr val="8BB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36802" y="3043089"/>
            <a:ext cx="52071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Regulations Become Enforceable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6802" y="3331964"/>
            <a:ext cx="4987498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Infrastructure converts EUDR from regulation on paper to regulation in practice. Every exporter onboarded = deforestation evidence as default.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278604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Business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65002"/>
            <a:ext cx="2539901" cy="3073896"/>
          </a:xfrm>
          <a:prstGeom prst="roundRect">
            <a:avLst>
              <a:gd name="adj" fmla="val 5000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988814"/>
            <a:ext cx="2539901" cy="0"/>
          </a:xfrm>
          <a:prstGeom prst="line">
            <a:avLst/>
          </a:prstGeom>
          <a:noFill/>
          <a:ln w="47625">
            <a:solidFill>
              <a:srgbClr val="C09E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01" y="1266527"/>
            <a:ext cx="2804297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$299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3501" y="1669703"/>
            <a:ext cx="251980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/month Starter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3501" y="2022128"/>
            <a:ext cx="2032099" cy="96926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Cooperatives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entity type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Basic traceability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VN / EN language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3402" y="965002"/>
            <a:ext cx="2539901" cy="3073896"/>
          </a:xfrm>
          <a:prstGeom prst="roundRect">
            <a:avLst>
              <a:gd name="adj" fmla="val 5000"/>
            </a:avLst>
          </a:prstGeom>
          <a:solidFill>
            <a:srgbClr val="F5F2F0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03402" y="988814"/>
            <a:ext cx="2539901" cy="0"/>
          </a:xfrm>
          <a:prstGeom prst="line">
            <a:avLst/>
          </a:prstGeom>
          <a:noFill/>
          <a:ln w="47625">
            <a:solidFill>
              <a:srgbClr val="D47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302" y="1266527"/>
            <a:ext cx="2804297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D476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$999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302" y="1669703"/>
            <a:ext cx="251980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/month Growth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302" y="2022128"/>
            <a:ext cx="2032099" cy="96926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Exporters / Importers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Multi-entity management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DDS generation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languages +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7203" y="965002"/>
            <a:ext cx="2539901" cy="3073896"/>
          </a:xfrm>
          <a:prstGeom prst="roundRect">
            <a:avLst>
              <a:gd name="adj" fmla="val 5000"/>
            </a:avLst>
          </a:prstGeom>
          <a:solidFill>
            <a:srgbClr val="F5F2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97203" y="988814"/>
            <a:ext cx="2539901" cy="0"/>
          </a:xfrm>
          <a:prstGeom prst="line">
            <a:avLst/>
          </a:prstGeom>
          <a:noFill/>
          <a:ln w="47625">
            <a:solidFill>
              <a:srgbClr val="8BB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1104" y="1266527"/>
            <a:ext cx="2692896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8BB1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$1,999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51104" y="1669703"/>
            <a:ext cx="239787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/month Enterprise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51104" y="2022128"/>
            <a:ext cx="2032099" cy="96926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Multi-origin operators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Full pipeline + analytics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Custom integrations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Dedicated support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292798"/>
            <a:ext cx="3672483" cy="596801"/>
          </a:xfrm>
          <a:prstGeom prst="roundRect">
            <a:avLst>
              <a:gd name="adj" fmla="val 12768"/>
            </a:avLst>
          </a:prstGeom>
          <a:solidFill>
            <a:srgbClr val="E9E2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750" y="4419749"/>
            <a:ext cx="3429491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Compliance Add-On:</a:t>
            </a:r>
            <a:pPr algn="l" indent="0" marL="0"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EUDR module + per-DDS fees beyond plan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5233" y="4292798"/>
            <a:ext cx="4049167" cy="596801"/>
          </a:xfrm>
          <a:prstGeom prst="roundRect">
            <a:avLst>
              <a:gd name="adj" fmla="val 12768"/>
            </a:avLst>
          </a:prstGeom>
          <a:solidFill>
            <a:srgbClr val="E9E2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88384" y="4419749"/>
            <a:ext cx="3825009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B2G Channel:</a:t>
            </a:r>
            <a:pPr algn="l" indent="0" marL="0">
              <a:buNone/>
            </a:pPr>
            <a:r>
              <a:rPr lang="en-US" sz="12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National monitoring infrastructure for government agencies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2D1B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2518" y="1628775"/>
            <a:ext cx="740816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71453" y="2187625"/>
            <a:ext cx="134294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Years in Agritech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5150" y="2562225"/>
            <a:ext cx="355550" cy="1905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7745" y="2784425"/>
            <a:ext cx="370511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D4766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53250" y="3343275"/>
            <a:ext cx="157950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Countries Deployed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406301"/>
            <a:ext cx="640080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Team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1769418"/>
            <a:ext cx="38100" cy="507950"/>
          </a:xfrm>
          <a:prstGeom prst="roundRect">
            <a:avLst>
              <a:gd name="adj" fmla="val 66667"/>
            </a:avLst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08250" y="1744117"/>
            <a:ext cx="614669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Deep Domain Expertise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08250" y="2001292"/>
            <a:ext cx="5867296" cy="51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Founded by a serial agritech entrepreneur who built coffee traceability platforms across Vietnam, Brazil, Ethiopia, and Kenya.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657624"/>
            <a:ext cx="38100" cy="507950"/>
          </a:xfrm>
          <a:prstGeom prst="roundRect">
            <a:avLst>
              <a:gd name="adj" fmla="val 66667"/>
            </a:avLst>
          </a:prstGeom>
          <a:solidFill>
            <a:srgbClr val="D476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08250" y="2632323"/>
            <a:ext cx="614669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Lived the Problem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08250" y="2889498"/>
            <a:ext cx="5867296" cy="51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team that has worked inside cooperatives and export warehouses for over a decade. Firsthand EUDR impact experience.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545830"/>
            <a:ext cx="38100" cy="507950"/>
          </a:xfrm>
          <a:prstGeom prst="roundRect">
            <a:avLst>
              <a:gd name="adj" fmla="val 66667"/>
            </a:avLst>
          </a:prstGeom>
          <a:solidFill>
            <a:srgbClr val="8BB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08250" y="3520529"/>
            <a:ext cx="614669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C241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Full-Stack Engineering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08250" y="3777704"/>
            <a:ext cx="5867296" cy="51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6B544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End-to-end capability from architecture to deployment. Cloud-native, multi-tenant, multi-language from day one.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pitchdeck/coffee-fa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10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956816"/>
            <a:ext cx="609600" cy="38100"/>
          </a:xfrm>
          <a:prstGeom prst="rect">
            <a:avLst/>
          </a:prstGeom>
          <a:solidFill>
            <a:srgbClr val="C09E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299716"/>
            <a:ext cx="8595360" cy="53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10"/>
              </a:lnSpc>
              <a:spcAft>
                <a:spcPts val="1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Ask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238302" y="1999357"/>
            <a:ext cx="666739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800"/>
              </a:spcAft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Investment support, corporate pilot partnerships, and government access to scale TerraBrew across Vietnam and the region.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317950" y="3383607"/>
            <a:ext cx="507950" cy="25301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658195" y="3662809"/>
            <a:ext cx="215657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9E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hello@terrabrew.io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07656" y="3977134"/>
            <a:ext cx="115138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terrabrew.io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TerraBrew - EUDR Compliance Infrastructure for the Coffee Supply Chain</dc:title>
  <dc:subject>PptxGenJS Presentation</dc:subject>
  <dc:creator>TerraBrew</dc:creator>
  <cp:lastModifiedBy>TerraBrew</cp:lastModifiedBy>
  <cp:revision>1</cp:revision>
  <dcterms:created xsi:type="dcterms:W3CDTF">2026-05-21T14:52:09Z</dcterms:created>
  <dcterms:modified xsi:type="dcterms:W3CDTF">2026-05-21T14:52:09Z</dcterms:modified>
</cp:coreProperties>
</file>