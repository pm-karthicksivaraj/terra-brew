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0E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2926080"/>
          </a:xfrm>
          <a:prstGeom prst="rect">
            <a:avLst/>
          </a:prstGeom>
          <a:solidFill>
            <a:srgbClr val="78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2560320"/>
            <a:ext cx="9418320" cy="50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0972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Metrang Coffee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DE68A"/>
                </a:solidFill>
                <a:latin typeface="Calibri"/>
              </a:defRPr>
            </a:pPr>
            <a:r>
              <a:t>End-to-End Coffee Traceability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84048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4D4D8"/>
                </a:solidFill>
                <a:latin typeface="Calibri"/>
              </a:defRPr>
            </a:pPr>
            <a:r>
              <a:t>Farm-to-Cup Transparency Powered by AI, Blockchain-Ready Architecture,</a:t>
            </a:r>
            <a:br/>
            <a:r>
              <a:t>and Real-Time Supply Chain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3035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97706"/>
                </a:solidFill>
                <a:latin typeface="Calibri"/>
              </a:defRPr>
            </a:pPr>
            <a:r>
              <a:t>Platform Overview  | 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0E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BBF24"/>
                </a:solidFill>
                <a:latin typeface="Calibri"/>
              </a:defRPr>
            </a:pPr>
            <a:r>
              <a:t>Why the Coffee Industry Needs Traceability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3832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3383280" cy="635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1828800"/>
            <a:ext cx="548640" cy="548640"/>
          </a:xfrm>
          <a:prstGeom prst="ellipse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4708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B4511C"/>
                </a:solidFill>
                <a:latin typeface="Calibri"/>
              </a:defRPr>
            </a:pPr>
            <a: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F2937"/>
                </a:solidFill>
                <a:latin typeface="Calibri"/>
              </a:defRPr>
            </a:pPr>
            <a:r>
              <a:t>No Supply Chain Visibility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0040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Coffee passes through 8-12 intermediaries from farm to cup. Origin, quality, and handling data is lost at every handoff, making it impossible to verify authenticity or identify quality issues.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59" y="1463040"/>
            <a:ext cx="33832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59" y="1463040"/>
            <a:ext cx="3383280" cy="635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754879" y="1828800"/>
            <a:ext cx="548640" cy="548640"/>
          </a:xfrm>
          <a:prstGeom prst="ellipse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79" y="184708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B4511C"/>
                </a:solidFill>
                <a:latin typeface="Calibri"/>
              </a:defRPr>
            </a:pPr>
            <a:r>
              <a:t>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79" y="25603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F2937"/>
                </a:solidFill>
                <a:latin typeface="Calibri"/>
              </a:defRPr>
            </a:pPr>
            <a:r>
              <a:t>Compliance &amp; Market Access Barriers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320040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EU Deforestation Regulation (EUDR) and CFI Code require full traceability by 2025. Non-compliant Vietnamese coffee exporters face market exclusion worth billions in lost revenue.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463040"/>
            <a:ext cx="33832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463040"/>
            <a:ext cx="3383280" cy="635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03920" y="1828800"/>
            <a:ext cx="548640" cy="548640"/>
          </a:xfrm>
          <a:prstGeom prst="ellipse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184708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B4511C"/>
                </a:solidFill>
                <a:latin typeface="Calibri"/>
              </a:defRPr>
            </a:pPr>
            <a: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5603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F2937"/>
                </a:solidFill>
                <a:latin typeface="Calibri"/>
              </a:defRPr>
            </a:pPr>
            <a:r>
              <a:t>Quality Inconsistency &amp; Premium Erosion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20040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Without systematic QC tracking, specialty-grade beans get mixed with commodity lots. Farmers lose premium pricing, and buyers cannot trust quality claims.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Our Solution: Full-Stack 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FAE5"/>
                </a:solidFill>
                <a:latin typeface="Calibri"/>
              </a:defRPr>
            </a:pPr>
            <a:r>
              <a:t>One Platform. Complete Visibility. Zero Gaps.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383280" cy="21945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3383280" cy="635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459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  <a:latin typeface="Calibri"/>
              </a:defRPr>
            </a:pPr>
            <a:r>
              <a:t>Web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Next.js + PostgreSQL platform with real-time analytics and QR codes.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1371600"/>
            <a:ext cx="3383280" cy="21945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1371600"/>
            <a:ext cx="3383280" cy="63500"/>
          </a:xfrm>
          <a:prstGeom prst="rect">
            <a:avLst/>
          </a:prstGeom>
          <a:solidFill>
            <a:srgbClr val="B45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79" y="16459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  <a:latin typeface="Calibri"/>
              </a:defRPr>
            </a:pPr>
            <a:r>
              <a:t>Mobile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28600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Flutter app for iOS + Android with 10 modules and offline sync.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371600"/>
            <a:ext cx="3383280" cy="21945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371600"/>
            <a:ext cx="3383280" cy="635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6459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  <a:latin typeface="Calibri"/>
              </a:defRPr>
            </a:pPr>
            <a:r>
              <a:t>AI Bean Grader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28600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EfficientNet-B0 model with 95%+ accuracy for defect detection.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931920"/>
            <a:ext cx="3383280" cy="21945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931920"/>
            <a:ext cx="3383280" cy="63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206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  <a:latin typeface="Calibri"/>
              </a:defRPr>
            </a:pPr>
            <a:r>
              <a:t>12-Stage Supply Chain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84632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Farms through Export. Full lot tracking with quality metrics at each stage.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59" y="3931920"/>
            <a:ext cx="3383280" cy="21945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59" y="3931920"/>
            <a:ext cx="3383280" cy="635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79" y="4206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  <a:latin typeface="Calibri"/>
              </a:defRPr>
            </a:pPr>
            <a:r>
              <a:t>Smart Data Templates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79" y="484632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25-sheet workbooks with 1,050+ formulas, 31 dropdowns, FK checks.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3931920"/>
            <a:ext cx="3383280" cy="21945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931920"/>
            <a:ext cx="3383280" cy="635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0" y="4206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  <a:latin typeface="Calibri"/>
              </a:defRPr>
            </a:pPr>
            <a:r>
              <a:t>Compliance Ready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484632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EUDR, CFI Code, SCA standards with built-in audit trails.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0E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Platform Capabilities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383280" cy="1645920"/>
          </a:xfrm>
          <a:prstGeom prst="rect">
            <a:avLst/>
          </a:prstGeom>
          <a:solidFill>
            <a:srgbClr val="78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BBF24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Supply Chain Stages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DE68A"/>
                </a:solidFill>
                <a:latin typeface="Calibri"/>
              </a:defRPr>
            </a:pPr>
            <a:r>
              <a:t>Farm to export tracked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59" y="1371600"/>
            <a:ext cx="3383280" cy="1645920"/>
          </a:xfrm>
          <a:prstGeom prst="rect">
            <a:avLst/>
          </a:prstGeom>
          <a:solidFill>
            <a:srgbClr val="78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59" y="150876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BBF24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21945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Reference Data Sets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2560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DE68A"/>
                </a:solidFill>
                <a:latin typeface="Calibri"/>
              </a:defRPr>
            </a:pPr>
            <a:r>
              <a:t>Regions, varieties, grades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371600"/>
            <a:ext cx="3383280" cy="1645920"/>
          </a:xfrm>
          <a:prstGeom prst="rect">
            <a:avLst/>
          </a:prstGeom>
          <a:solidFill>
            <a:srgbClr val="78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50876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BBF24"/>
                </a:solidFill>
                <a:latin typeface="Calibri"/>
              </a:defRPr>
            </a:pPr>
            <a:r>
              <a:t>95%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1945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AI Bean Grading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560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DE68A"/>
                </a:solidFill>
                <a:latin typeface="Calibri"/>
              </a:defRPr>
            </a:pPr>
            <a:r>
              <a:t>EfficientNet-B0 accuracy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474720"/>
            <a:ext cx="2560320" cy="2743200"/>
          </a:xfrm>
          <a:prstGeom prst="rect">
            <a:avLst/>
          </a:prstGeom>
          <a:solidFill>
            <a:srgbClr val="29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474720"/>
            <a:ext cx="2560320" cy="508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Web 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97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4D4D8"/>
                </a:solidFill>
                <a:latin typeface="Calibri"/>
              </a:defRPr>
            </a:pPr>
            <a:r>
              <a:t>  Real-time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7548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4D4D8"/>
                </a:solidFill>
                <a:latin typeface="Calibri"/>
              </a:defRPr>
            </a:pPr>
            <a:r>
              <a:t>  QR lot tracking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212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4D4D8"/>
                </a:solidFill>
                <a:latin typeface="Calibri"/>
              </a:defRPr>
            </a:pPr>
            <a:r>
              <a:t>  Role-based access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66160" y="3474720"/>
            <a:ext cx="2560320" cy="2743200"/>
          </a:xfrm>
          <a:prstGeom prst="rect">
            <a:avLst/>
          </a:prstGeom>
          <a:solidFill>
            <a:srgbClr val="29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566160" y="3474720"/>
            <a:ext cx="2560320" cy="50800"/>
          </a:xfrm>
          <a:prstGeom prst="rect">
            <a:avLst/>
          </a:prstGeom>
          <a:solidFill>
            <a:srgbClr val="B45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49040" y="3703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Mobile App (Flutter)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40" y="4297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4D4D8"/>
                </a:solidFill>
                <a:latin typeface="Calibri"/>
              </a:defRPr>
            </a:pPr>
            <a:r>
              <a:t>  Offline collection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40" y="47548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4D4D8"/>
                </a:solidFill>
                <a:latin typeface="Calibri"/>
              </a:defRPr>
            </a:pPr>
            <a:r>
              <a:t>  GPS farm mapping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40" y="5212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4D4D8"/>
                </a:solidFill>
                <a:latin typeface="Calibri"/>
              </a:defRPr>
            </a:pPr>
            <a:r>
              <a:t>  AI photo grading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474720"/>
            <a:ext cx="2560320" cy="2743200"/>
          </a:xfrm>
          <a:prstGeom prst="rect">
            <a:avLst/>
          </a:prstGeom>
          <a:solidFill>
            <a:srgbClr val="29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3474720"/>
            <a:ext cx="256032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3703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Data Collection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297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4D4D8"/>
                </a:solidFill>
                <a:latin typeface="Calibri"/>
              </a:defRPr>
            </a:pPr>
            <a:r>
              <a:t>  25-sheet templates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7548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4D4D8"/>
                </a:solidFill>
                <a:latin typeface="Calibri"/>
              </a:defRPr>
            </a:pPr>
            <a:r>
              <a:t>  1,050+ formulas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5212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4D4D8"/>
                </a:solidFill>
                <a:latin typeface="Calibri"/>
              </a:defRPr>
            </a:pPr>
            <a:r>
              <a:t>  31 dropdown validations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35440" y="3474720"/>
            <a:ext cx="2560320" cy="2743200"/>
          </a:xfrm>
          <a:prstGeom prst="rect">
            <a:avLst/>
          </a:prstGeom>
          <a:solidFill>
            <a:srgbClr val="29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235440" y="3474720"/>
            <a:ext cx="2560320" cy="508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18320" y="3703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Compliance Ready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20" y="4297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4D4D8"/>
                </a:solidFill>
                <a:latin typeface="Calibri"/>
              </a:defRPr>
            </a:pPr>
            <a:r>
              <a:t>  EUDR compliant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0" y="47548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4D4D8"/>
                </a:solidFill>
                <a:latin typeface="Calibri"/>
              </a:defRPr>
            </a:pPr>
            <a:r>
              <a:t>  CFI Code aligned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20" y="5212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4D4D8"/>
                </a:solidFill>
                <a:latin typeface="Calibri"/>
              </a:defRPr>
            </a:pPr>
            <a:r>
              <a:t>  Audit trail built-in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78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BBF24"/>
                </a:solidFill>
                <a:latin typeface="Calibri"/>
              </a:defRPr>
            </a:pPr>
            <a:r>
              <a:t>Why Vietnam? Why Now?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303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1737360"/>
            <a:ext cx="1097280" cy="109728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B4511C"/>
                </a:solidFill>
                <a:latin typeface="Calibri"/>
              </a:defRPr>
            </a:pPr>
            <a:r>
              <a:t>#2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737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  <a:latin typeface="Calibri"/>
              </a:defRPr>
            </a:pPr>
            <a:r>
              <a:t>Global Coffee Producer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3774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30M+ bags annually. 95% Robusta, rapidly growing Arabica specialty segment.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371600"/>
            <a:ext cx="5303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66560" y="1737360"/>
            <a:ext cx="1097280" cy="109728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82880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B4511C"/>
                </a:solidFill>
                <a:latin typeface="Calibri"/>
              </a:defRPr>
            </a:pPr>
            <a:r>
              <a:t>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737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  <a:latin typeface="Calibri"/>
              </a:defRPr>
            </a:pPr>
            <a:r>
              <a:t>EUDR Compliance Deadline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3774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European Union requires full geo-traceability. $4.2B Vietnamese coffee exports at risk without digital traceability systems.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931920"/>
            <a:ext cx="5303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05840" y="4297680"/>
            <a:ext cx="1097280" cy="109728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38912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B4511C"/>
                </a:solidFill>
                <a:latin typeface="Calibri"/>
              </a:defRPr>
            </a:pPr>
            <a:r>
              <a:t>15%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4297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  <a:latin typeface="Calibri"/>
              </a:defRPr>
            </a:pPr>
            <a:r>
              <a:t>Specialty Market CAGR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49377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Vietnam specialty coffee growing 15% annually. Traceability is the gateway to premium pricing and international specialty buyers.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3931920"/>
            <a:ext cx="5303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66560" y="4297680"/>
            <a:ext cx="1097280" cy="109728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438912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B4511C"/>
                </a:solidFill>
                <a:latin typeface="Calibri"/>
              </a:defRPr>
            </a:pPr>
            <a:r>
              <a:t>2030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4297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  <a:latin typeface="Calibri"/>
              </a:defRPr>
            </a:pPr>
            <a:r>
              <a:t>Govt. Digital Agriculture Push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49377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Vietnam's national coffee strategy mandates digital transformation. Our platform aligns with MARD's 2030 roadmap.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Our Unique Selling Propositions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383280" cy="21945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76200" cy="219456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  <a:latin typeface="Calibri"/>
              </a:defRPr>
            </a:pPr>
            <a:r>
              <a:t>AI-Powered Quality Assurance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Deep learning model on SCA standards provides instant, objective bean grading. Eliminates human bias.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59" y="1371600"/>
            <a:ext cx="3383280" cy="21945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59" y="1371600"/>
            <a:ext cx="76200" cy="2194560"/>
          </a:xfrm>
          <a:prstGeom prst="rect">
            <a:avLst/>
          </a:prstGeom>
          <a:solidFill>
            <a:srgbClr val="B45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16459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  <a:latin typeface="Calibri"/>
              </a:defRPr>
            </a:pPr>
            <a:r>
              <a:t>True Farm-to-Cup Transparency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28600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Every bean traced to exact farm, farmer, harvest date, and quality scores via one QR code.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371600"/>
            <a:ext cx="3383280" cy="21945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371600"/>
            <a:ext cx="76200" cy="2194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6459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  <a:latin typeface="Calibri"/>
              </a:defRPr>
            </a:pPr>
            <a:r>
              <a:t>Built for Vietnam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28600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Designed for Dak Lak, Lam Dong, Gia Lai. Vietnamese language, local farming practices.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931920"/>
            <a:ext cx="3383280" cy="21945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931920"/>
            <a:ext cx="76200" cy="219456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206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  <a:latin typeface="Calibri"/>
              </a:defRPr>
            </a:pPr>
            <a:r>
              <a:t>Offline-First Mobile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84632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Works in remote highlands with no internet. Auto-syncs when connection restores.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59" y="3931920"/>
            <a:ext cx="3383280" cy="21945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59" y="3931920"/>
            <a:ext cx="76200" cy="2194560"/>
          </a:xfrm>
          <a:prstGeom prst="rect">
            <a:avLst/>
          </a:prstGeom>
          <a:solidFill>
            <a:srgbClr val="B45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79" y="4206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  <a:latin typeface="Calibri"/>
              </a:defRPr>
            </a:pPr>
            <a:r>
              <a:t>Full-Stack, Self-Contained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79" y="484632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Web, mobile, AI, templates all built in-house. Complete data ownership. No vendor lock-in.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3931920"/>
            <a:ext cx="3383280" cy="21945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3931920"/>
            <a:ext cx="76200" cy="2194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4206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  <a:latin typeface="Calibri"/>
              </a:defRPr>
            </a:pPr>
            <a:r>
              <a:t>Compliance Out-of-the-Box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484632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Pre-configured for EUDR, CFI Code, SCA. Audit trails reduce compliance cost by 80%.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0E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Impact, Scalability &amp; Profitability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2560320" cy="2560320"/>
          </a:xfrm>
          <a:prstGeom prst="rect">
            <a:avLst/>
          </a:prstGeom>
          <a:solidFill>
            <a:srgbClr val="78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BBF24"/>
                </a:solidFill>
                <a:latin typeface="Calibri"/>
              </a:defRPr>
            </a:pPr>
            <a:r>
              <a:t>60%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Cost Reduction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DE68A"/>
                </a:solidFill>
                <a:latin typeface="Calibri"/>
              </a:defRPr>
            </a:pPr>
            <a:r>
              <a:t>Eliminate manual errors and reduce QC overhead with AI</a:t>
            </a:r>
          </a:p>
        </p:txBody>
      </p:sp>
      <p:sp>
        <p:nvSpPr>
          <p:cNvPr id="8" name="Rectangle 7"/>
          <p:cNvSpPr/>
          <p:nvPr/>
        </p:nvSpPr>
        <p:spPr>
          <a:xfrm>
            <a:off x="3611880" y="1371600"/>
            <a:ext cx="2560320" cy="2560320"/>
          </a:xfrm>
          <a:prstGeom prst="rect">
            <a:avLst/>
          </a:prstGeom>
          <a:solidFill>
            <a:srgbClr val="78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6459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BBF24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468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Traceability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30175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DE68A"/>
                </a:solidFill>
                <a:latin typeface="Calibri"/>
              </a:defRPr>
            </a:pPr>
            <a:r>
              <a:t>Every batch traced to farm, farmer, and processing method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1371600"/>
            <a:ext cx="2560320" cy="2560320"/>
          </a:xfrm>
          <a:prstGeom prst="rect">
            <a:avLst/>
          </a:prstGeom>
          <a:solidFill>
            <a:srgbClr val="78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6459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BBF24"/>
                </a:solidFill>
                <a:latin typeface="Calibri"/>
              </a:defRPr>
            </a:pPr>
            <a:r>
              <a:t>25%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68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Price Premium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0175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DE68A"/>
                </a:solidFill>
                <a:latin typeface="Calibri"/>
              </a:defRPr>
            </a:pPr>
            <a:r>
              <a:t>Verified traceability commands premium in specialty markets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72600" y="1371600"/>
            <a:ext cx="2560320" cy="2560320"/>
          </a:xfrm>
          <a:prstGeom prst="rect">
            <a:avLst/>
          </a:prstGeom>
          <a:solidFill>
            <a:srgbClr val="78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72600" y="16459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BBF24"/>
                </a:solidFill>
                <a:latin typeface="Calibri"/>
              </a:defRPr>
            </a:pPr>
            <a:r>
              <a:t>10x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2468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Scalable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30175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DE68A"/>
                </a:solidFill>
                <a:latin typeface="Calibri"/>
              </a:defRPr>
            </a:pPr>
            <a:r>
              <a:t>Cloud-native architecture scales from 10 to 10,000+ farms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389120"/>
            <a:ext cx="2560320" cy="64008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49884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EUDR Ready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11880" y="4389120"/>
            <a:ext cx="2560320" cy="640080"/>
          </a:xfrm>
          <a:prstGeom prst="rect">
            <a:avLst/>
          </a:prstGeom>
          <a:solidFill>
            <a:srgbClr val="B45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11880" y="449884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Blockchain-Ready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4389120"/>
            <a:ext cx="2560320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449884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Multi-Tenant Cloud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72600" y="4389120"/>
            <a:ext cx="2560320" cy="6400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72600" y="449884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Reliable &amp; Trustworthy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0E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3200400"/>
          </a:xfrm>
          <a:prstGeom prst="rect">
            <a:avLst/>
          </a:prstGeom>
          <a:solidFill>
            <a:srgbClr val="78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2286000"/>
            <a:ext cx="9418320" cy="50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Building Trust, One Bean at a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5E7EB"/>
                </a:solidFill>
                <a:latin typeface="Calibri"/>
              </a:defRPr>
            </a:pPr>
            <a:r>
              <a:t>Metrang Coffee delivers a complete, reliable, and scalable traceability platform</a:t>
            </a:r>
            <a:br/>
            <a:r>
              <a:t>that empowers Vietnamese coffee farmers to access global premium markets</a:t>
            </a:r>
            <a:br/>
            <a:r>
              <a:t>with full transparency and compliance.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4389120"/>
            <a:ext cx="2468880" cy="82296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446227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Web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4800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5E7EB"/>
                </a:solidFill>
                <a:latin typeface="Calibri"/>
              </a:defRPr>
            </a:pPr>
            <a:r>
              <a:t>Next.js + PostgreSQL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80" y="4389120"/>
            <a:ext cx="2468880" cy="822960"/>
          </a:xfrm>
          <a:prstGeom prst="rect">
            <a:avLst/>
          </a:prstGeom>
          <a:solidFill>
            <a:srgbClr val="B45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446227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Mobile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4800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5E7EB"/>
                </a:solidFill>
                <a:latin typeface="Calibri"/>
              </a:defRPr>
            </a:pPr>
            <a:r>
              <a:t>Flutter (iOS + Android)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4389120"/>
            <a:ext cx="2468880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446227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AI Grading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4800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5E7EB"/>
                </a:solidFill>
                <a:latin typeface="Calibri"/>
              </a:defRPr>
            </a:pPr>
            <a:r>
              <a:t>EfficientNet-B0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97706"/>
                </a:solidFill>
                <a:latin typeface="Calibri"/>
              </a:defRPr>
            </a:pPr>
            <a:r>
              <a:t>Metrang Coffee  |  info@metrangcoffee.com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